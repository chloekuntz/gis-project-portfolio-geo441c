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strument Sans SemiBold"/>
      <p:regular r:id="rId13"/>
      <p:bold r:id="rId14"/>
      <p:italic r:id="rId15"/>
      <p:boldItalic r:id="rId16"/>
    </p:embeddedFont>
    <p:embeddedFont>
      <p:font typeface="Instrument Sans Medium"/>
      <p:regular r:id="rId17"/>
      <p:bold r:id="rId18"/>
      <p:italic r:id="rId19"/>
      <p:boldItalic r:id="rId20"/>
    </p:embeddedFont>
    <p:embeddedFont>
      <p:font typeface="Instrument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strumentSansMedium-boldItalic.fntdata"/><Relationship Id="rId22" Type="http://schemas.openxmlformats.org/officeDocument/2006/relationships/font" Target="fonts/InstrumentSans-bold.fntdata"/><Relationship Id="rId21" Type="http://schemas.openxmlformats.org/officeDocument/2006/relationships/font" Target="fonts/InstrumentSans-regular.fntdata"/><Relationship Id="rId24" Type="http://schemas.openxmlformats.org/officeDocument/2006/relationships/font" Target="fonts/InstrumentSans-boldItalic.fntdata"/><Relationship Id="rId23" Type="http://schemas.openxmlformats.org/officeDocument/2006/relationships/font" Target="fonts/Instrument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strumentSans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strumentSansSemiBold-italic.fntdata"/><Relationship Id="rId14" Type="http://schemas.openxmlformats.org/officeDocument/2006/relationships/font" Target="fonts/InstrumentSansSemiBold-bold.fntdata"/><Relationship Id="rId17" Type="http://schemas.openxmlformats.org/officeDocument/2006/relationships/font" Target="fonts/InstrumentSansMedium-regular.fntdata"/><Relationship Id="rId16" Type="http://schemas.openxmlformats.org/officeDocument/2006/relationships/font" Target="fonts/InstrumentSansSemiBold-boldItalic.fntdata"/><Relationship Id="rId19" Type="http://schemas.openxmlformats.org/officeDocument/2006/relationships/font" Target="fonts/InstrumentSansMedium-italic.fntdata"/><Relationship Id="rId18" Type="http://schemas.openxmlformats.org/officeDocument/2006/relationships/font" Target="fonts/Instrument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633faec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633faec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633faec5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633faec5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633faec5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633faec5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633faec5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633faec5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 band, raster data, vector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633faec5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633faec5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633faec5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633faec5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643d4a8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643d4a8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12" name="Google Shape;12;p2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13" name="Google Shape;13;p2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35" name="Google Shape;35;p4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8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8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9" name="Google Shape;109;p8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0" name="Google Shape;110;p8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" name="Google Shape;112;p8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3" name="Google Shape;113;p8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5" name="Google Shape;115;p8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6" name="Google Shape;116;p8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4" name="Google Shape;124;p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0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10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5" name="Google Shape;135;p1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41" name="Google Shape;141;p1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" name="Google Shape;149;p1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1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9" name="Google Shape;159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163" name="Google Shape;163;p1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9" name="Google Shape;169;p16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170" name="Google Shape;170;p16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16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6" name="Google Shape;176;p16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7" name="Google Shape;177;p1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180" name="Google Shape;180;p1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02" name="Google Shape;202;p18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9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6" name="Google Shape;216;p19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7" name="Google Shape;217;p19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19" name="Google Shape;219;p19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22" name="Google Shape;222;p19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24" name="Google Shape;224;p1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20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2" name="Google Shape;252;p21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3" name="Google Shape;253;p21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4" name="Google Shape;254;p21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5" name="Google Shape;255;p21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6" name="Google Shape;256;p21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57" name="Google Shape;257;p2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21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0" name="Google Shape;260;p21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1" name="Google Shape;261;p21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62" name="Google Shape;262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1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9" name="Google Shape;269;p2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0" name="Google Shape;270;p2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2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2" name="Google Shape;272;p2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4" name="Google Shape;274;p2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5" name="Google Shape;275;p2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2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2" name="Google Shape;282;p2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83" name="Google Shape;283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95" name="Google Shape;295;p2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6" name="Google Shape;296;p25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8" name="Google Shape;298;p25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9" name="Google Shape;299;p2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2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2" name="Google Shape;302;p2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03" name="Google Shape;303;p2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6" name="Google Shape;306;p2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8" name="Google Shape;308;p2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09" name="Google Shape;309;p2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10" name="Google Shape;310;p2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1" name="Google Shape;311;p2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3" name="Google Shape;313;p2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8" name="Google Shape;318;p27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0" name="Google Shape;320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2" name="Google Shape;322;p27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6" name="Google Shape;336;p28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4" name="Google Shape;344;p29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5" name="Google Shape;345;p29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7" name="Google Shape;347;p29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29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0" name="Google Shape;350;p29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1" name="Google Shape;351;p29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29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3" name="Google Shape;353;p29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54" name="Google Shape;354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57" name="Google Shape;3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76" name="Google Shape;37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8" name="Google Shape;398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06" name="Google Shape;406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16" name="Google Shape;416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0" name="Google Shape;430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8" name="Google Shape;43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0" name="Google Shape;440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1" name="Google Shape;441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openstreetmap.org/relation/2866485#map=14/33.82779/-116.53808" TargetMode="External"/><Relationship Id="rId4" Type="http://schemas.openxmlformats.org/officeDocument/2006/relationships/hyperlink" Target="https://www.mrlc.gov/view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Chloe Kuntz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0" name="Google Shape;460;p51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April 15, 2026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1" name="Google Shape;461;p51"/>
          <p:cNvSpPr txBox="1"/>
          <p:nvPr>
            <p:ph type="title"/>
          </p:nvPr>
        </p:nvSpPr>
        <p:spPr>
          <a:xfrm>
            <a:off x="291800" y="465200"/>
            <a:ext cx="6188400" cy="26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Artificial</a:t>
            </a:r>
            <a:r>
              <a:rPr lang="en" sz="5000"/>
              <a:t> Greenspace </a:t>
            </a:r>
            <a:r>
              <a:rPr lang="en" sz="5000"/>
              <a:t>and</a:t>
            </a:r>
            <a:r>
              <a:rPr lang="en" sz="5000"/>
              <a:t> Urban Cooling in Palm Springs, CA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idx="1" type="body"/>
          </p:nvPr>
        </p:nvSpPr>
        <p:spPr>
          <a:xfrm>
            <a:off x="284700" y="1223350"/>
            <a:ext cx="8272200" cy="31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Palm Springs is located in a desert environment in southern California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greenspaces exist in Palm Springs, such as golf courses, which maintain very different environmental standards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Greenspaces use intensive care through water resources and monetary requirements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2"/>
          <p:cNvSpPr txBox="1"/>
          <p:nvPr>
            <p:ph type="title"/>
          </p:nvPr>
        </p:nvSpPr>
        <p:spPr>
          <a:xfrm>
            <a:off x="284700" y="3294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sz="3600"/>
          </a:p>
        </p:txBody>
      </p:sp>
      <p:sp>
        <p:nvSpPr>
          <p:cNvPr id="468" name="Google Shape;468;p5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/>
          <p:nvPr/>
        </p:nvSpPr>
        <p:spPr>
          <a:xfrm>
            <a:off x="286975" y="1133325"/>
            <a:ext cx="8569800" cy="3726900"/>
          </a:xfrm>
          <a:prstGeom prst="roundRect">
            <a:avLst>
              <a:gd fmla="val 1862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4" name="Google Shape;474;p53"/>
          <p:cNvSpPr txBox="1"/>
          <p:nvPr>
            <p:ph idx="7" type="body"/>
          </p:nvPr>
        </p:nvSpPr>
        <p:spPr>
          <a:xfrm>
            <a:off x="287100" y="1061100"/>
            <a:ext cx="8569800" cy="3021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temperatures and limited water resources play a large role in the daily lives of those in Palm Springs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Greenspace in Palm Springs requires irrigation for its upkeep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these greenspaces exhibiting significant land surface temperatures lower than their surroundings?  Is there any unintentional benefit to adjacent areas?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Purpose</a:t>
            </a:r>
            <a:endParaRPr sz="3600"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pic>
        <p:nvPicPr>
          <p:cNvPr id="476" name="Google Shape;476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098" l="0" r="0" t="2098"/>
          <a:stretch/>
        </p:blipFill>
        <p:spPr>
          <a:xfrm>
            <a:off x="5313850" y="3104700"/>
            <a:ext cx="2976000" cy="19008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"/>
          <p:cNvSpPr/>
          <p:nvPr/>
        </p:nvSpPr>
        <p:spPr>
          <a:xfrm>
            <a:off x="280875" y="1291800"/>
            <a:ext cx="2645700" cy="35736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2" name="Google Shape;482;p54"/>
          <p:cNvSpPr/>
          <p:nvPr/>
        </p:nvSpPr>
        <p:spPr>
          <a:xfrm>
            <a:off x="3185700" y="1312950"/>
            <a:ext cx="2616900" cy="3531300"/>
          </a:xfrm>
          <a:prstGeom prst="roundRect">
            <a:avLst>
              <a:gd fmla="val 102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3" name="Google Shape;483;p54"/>
          <p:cNvSpPr/>
          <p:nvPr/>
        </p:nvSpPr>
        <p:spPr>
          <a:xfrm>
            <a:off x="6093775" y="1312950"/>
            <a:ext cx="2645700" cy="3531300"/>
          </a:xfrm>
          <a:prstGeom prst="roundRect">
            <a:avLst>
              <a:gd fmla="val 100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4" name="Google Shape;484;p54"/>
          <p:cNvSpPr txBox="1"/>
          <p:nvPr>
            <p:ph idx="4" type="body"/>
          </p:nvPr>
        </p:nvSpPr>
        <p:spPr>
          <a:xfrm>
            <a:off x="3544500" y="2607553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54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Data</a:t>
            </a:r>
            <a:endParaRPr sz="3600">
              <a:highlight>
                <a:schemeClr val="accent2"/>
              </a:highlight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487" name="Google Shape;487;p54"/>
          <p:cNvSpPr txBox="1"/>
          <p:nvPr>
            <p:ph idx="14" type="subTitle"/>
          </p:nvPr>
        </p:nvSpPr>
        <p:spPr>
          <a:xfrm>
            <a:off x="292600" y="1440225"/>
            <a:ext cx="17661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Landsat 8 Thermal Image</a:t>
            </a:r>
            <a:endParaRPr sz="1400"/>
          </a:p>
        </p:txBody>
      </p:sp>
      <p:sp>
        <p:nvSpPr>
          <p:cNvPr id="488" name="Google Shape;488;p54"/>
          <p:cNvSpPr txBox="1"/>
          <p:nvPr>
            <p:ph idx="15" type="subTitle"/>
          </p:nvPr>
        </p:nvSpPr>
        <p:spPr>
          <a:xfrm>
            <a:off x="3185688" y="14402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NLCD</a:t>
            </a:r>
            <a:endParaRPr sz="1400"/>
          </a:p>
        </p:txBody>
      </p:sp>
      <p:sp>
        <p:nvSpPr>
          <p:cNvPr id="489" name="Google Shape;489;p54"/>
          <p:cNvSpPr txBox="1"/>
          <p:nvPr>
            <p:ph idx="16" type="subTitle"/>
          </p:nvPr>
        </p:nvSpPr>
        <p:spPr>
          <a:xfrm>
            <a:off x="6093775" y="1440225"/>
            <a:ext cx="17661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OpenStreetMap</a:t>
            </a:r>
            <a:endParaRPr sz="1400"/>
          </a:p>
        </p:txBody>
      </p:sp>
      <p:pic>
        <p:nvPicPr>
          <p:cNvPr id="490" name="Google Shape;490;p54" title="Screenshot 2026-04-15 074330.png"/>
          <p:cNvPicPr preferRelativeResize="0"/>
          <p:nvPr/>
        </p:nvPicPr>
        <p:blipFill rotWithShape="1">
          <a:blip r:embed="rId3">
            <a:alphaModFix/>
          </a:blip>
          <a:srcRect b="0" l="0" r="10515" t="0"/>
          <a:stretch/>
        </p:blipFill>
        <p:spPr>
          <a:xfrm>
            <a:off x="322775" y="2219700"/>
            <a:ext cx="2571750" cy="19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4" title="Screenshot 2026-04-15 074945.png"/>
          <p:cNvPicPr preferRelativeResize="0"/>
          <p:nvPr/>
        </p:nvPicPr>
        <p:blipFill rotWithShape="1">
          <a:blip r:embed="rId4">
            <a:alphaModFix/>
          </a:blip>
          <a:srcRect b="0" l="0" r="14501" t="0"/>
          <a:stretch/>
        </p:blipFill>
        <p:spPr>
          <a:xfrm>
            <a:off x="3295967" y="2219700"/>
            <a:ext cx="2396359" cy="19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4" title="Screenshot 2026-04-15 075243.png"/>
          <p:cNvPicPr preferRelativeResize="0"/>
          <p:nvPr/>
        </p:nvPicPr>
        <p:blipFill rotWithShape="1">
          <a:blip r:embed="rId5">
            <a:alphaModFix/>
          </a:blip>
          <a:srcRect b="9764" l="13663" r="12758" t="0"/>
          <a:stretch/>
        </p:blipFill>
        <p:spPr>
          <a:xfrm>
            <a:off x="6499612" y="1822000"/>
            <a:ext cx="1834025" cy="28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55"/>
          <p:cNvPicPr preferRelativeResize="0"/>
          <p:nvPr/>
        </p:nvPicPr>
        <p:blipFill rotWithShape="1">
          <a:blip r:embed="rId3">
            <a:alphaModFix/>
          </a:blip>
          <a:srcRect b="15633" l="0" r="1176" t="0"/>
          <a:stretch/>
        </p:blipFill>
        <p:spPr>
          <a:xfrm>
            <a:off x="411750" y="1069675"/>
            <a:ext cx="8320500" cy="3795600"/>
          </a:xfrm>
          <a:prstGeom prst="roundRect">
            <a:avLst>
              <a:gd fmla="val 8109" name="adj"/>
            </a:avLst>
          </a:prstGeom>
          <a:noFill/>
          <a:ln>
            <a:noFill/>
          </a:ln>
        </p:spPr>
      </p:pic>
      <p:sp>
        <p:nvSpPr>
          <p:cNvPr id="498" name="Google Shape;498;p55"/>
          <p:cNvSpPr txBox="1"/>
          <p:nvPr>
            <p:ph idx="1" type="body"/>
          </p:nvPr>
        </p:nvSpPr>
        <p:spPr>
          <a:xfrm>
            <a:off x="417625" y="1311925"/>
            <a:ext cx="7851300" cy="269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Calculating average land surface temperatures for golf courses, and for desert areas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zonal statistics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Defining adjacent desert areas to golf courses of non-irrigated land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Buffering of vector data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5"/>
          <p:cNvSpPr txBox="1"/>
          <p:nvPr>
            <p:ph type="title"/>
          </p:nvPr>
        </p:nvSpPr>
        <p:spPr>
          <a:xfrm>
            <a:off x="181225" y="286200"/>
            <a:ext cx="4227300" cy="6558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Methodology</a:t>
            </a:r>
            <a:endParaRPr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500" name="Google Shape;500;p5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9075" y="-19050"/>
            <a:ext cx="9462300" cy="5181600"/>
          </a:xfrm>
          <a:prstGeom prst="roundRect">
            <a:avLst>
              <a:gd fmla="val 3971" name="adj"/>
            </a:avLst>
          </a:prstGeom>
          <a:noFill/>
          <a:ln>
            <a:noFill/>
          </a:ln>
        </p:spPr>
      </p:pic>
      <p:sp>
        <p:nvSpPr>
          <p:cNvPr id="506" name="Google Shape;506;p5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56"/>
          <p:cNvSpPr txBox="1"/>
          <p:nvPr>
            <p:ph idx="4294967295" type="body"/>
          </p:nvPr>
        </p:nvSpPr>
        <p:spPr>
          <a:xfrm>
            <a:off x="284700" y="1276575"/>
            <a:ext cx="8272200" cy="3228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thermal map visualizing the varying land surface temperatures in P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Springs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Expectation of not showing LST that calls for the resource use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distinction of golf course greenspaces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Quantified comparison of land surface temperatures of golf courses and their 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areas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6"/>
          <p:cNvSpPr txBox="1"/>
          <p:nvPr>
            <p:ph idx="4294967295" type="title"/>
          </p:nvPr>
        </p:nvSpPr>
        <p:spPr>
          <a:xfrm>
            <a:off x="284700" y="641850"/>
            <a:ext cx="5278500" cy="4710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Anticipated Outcomes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 txBox="1"/>
          <p:nvPr>
            <p:ph idx="3" type="body"/>
          </p:nvPr>
        </p:nvSpPr>
        <p:spPr>
          <a:xfrm>
            <a:off x="323700" y="474750"/>
            <a:ext cx="8496600" cy="118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Sources</a:t>
            </a:r>
            <a:endParaRPr/>
          </a:p>
        </p:txBody>
      </p:sp>
      <p:sp>
        <p:nvSpPr>
          <p:cNvPr id="514" name="Google Shape;514;p5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57"/>
          <p:cNvSpPr txBox="1"/>
          <p:nvPr>
            <p:ph idx="4294967295" type="body"/>
          </p:nvPr>
        </p:nvSpPr>
        <p:spPr>
          <a:xfrm>
            <a:off x="284700" y="1968775"/>
            <a:ext cx="8077200" cy="269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https://www.openstreetmap.org/relation/2866485#map=14/33.82779/-116.53808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https://www.mrlc.gov/viewer/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